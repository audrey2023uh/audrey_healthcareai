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57216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A5E9"/>
                </a:solidFill>
                <a:latin typeface="Calibri"/>
              </a:rP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Source-Linked Clinical Evidence CDSS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FFAFE"/>
                </a:solidFill>
                <a:latin typeface="Calibri"/>
              </a:rPr>
              <a:t>End-to-end AI Engineering Prototype  ·  RAG  ·  LangGraph Multi-Agent Workflow  ·  Evidence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Audrey Rah  ·  University of Houston  ·  Houston, Texas, USA</a:t>
            </a:r>
          </a:p>
          <a:p>
            <a:r>
              <a:rPr sz="1200" b="0">
                <a:solidFill>
                  <a:srgbClr val="CFFAFE"/>
                </a:solidFill>
                <a:latin typeface="Calibri"/>
              </a:rPr>
              <a:t>Codebase: AI HEALTH CARE/  ·  Research/education prototype —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Agenda — AI Engineering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Aligned with proposal + AI Tech Stack.docx + Chip Huyen–style system thinking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A5E9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4C81"/>
                </a:solidFill>
                <a:latin typeface="Calibri"/>
              </a:rPr>
              <a:t>What was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Resume-style system summary + honesty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1732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A5E9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514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4C81"/>
                </a:solidFill>
                <a:latin typeface="Calibri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E2E, LangGraph graph, RAG, ranking, data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41732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7373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A5E9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514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4C81"/>
                </a:solidFill>
                <a:latin typeface="Calibri"/>
              </a:rPr>
              <a:t>Agents &amp; CDSS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7-step clinical workflow + Knowledge Update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41732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7373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A5E9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514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4C81"/>
                </a:solidFill>
                <a:latin typeface="Calibri"/>
              </a:rPr>
              <a:t>Tech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Yellow = implemented · Green = ideal (required)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59" y="141732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19" y="17373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A5E9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514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4C81"/>
                </a:solidFill>
                <a:latin typeface="Calibri"/>
              </a:rPr>
              <a:t>Eval &amp; trade-offs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36118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Metrics, cost/complexity/scale, demo proof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What Was Built (Implemented — Not Proposed)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Milestone 2 proof lives in AI HEALTH CARE/ · every claim maps to runnable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11338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09728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4C81"/>
                </a:solidFill>
                <a:latin typeface="Calibri"/>
              </a:rPr>
              <a:t>1. End-to-end clinical decision-support prototype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Streamlit clinician UI → LangGraph StateGraph (8 nodes) → source-linked recommendations with citations, confidence, and human-review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880360"/>
            <a:ext cx="11338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80360"/>
            <a:ext cx="109728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4C81"/>
                </a:solidFill>
                <a:latin typeface="Calibri"/>
              </a:rPr>
              <a:t>2. Hierarchy-aware RAG over a public medical knowledge base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FAISS IndexFlatIP + local TF-IDF embeddings; Priority 1–7 evidence ranking; superseded-guideline downgrade; optional OpenAI-compatible LLM with extractive offline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434840"/>
            <a:ext cx="11338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4434840"/>
            <a:ext cx="109728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4C81"/>
                </a:solidFill>
                <a:latin typeface="Calibri"/>
              </a:rPr>
              <a:t>3. Explainable, measurable demo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Agent trace, evidence tiles, conflict checks, citation precision eval script, optional FastAPI /ask, Knowledge Update Agent (URL probes + local supersession + index rebuild).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AI Engineering Lens (Chip Huyen–style)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Build for reliability under constraints — separate prototype reality from production ambition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2788920" cy="41148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2788920" cy="3291840"/>
          </a:xfrm>
          <a:prstGeom prst="roundRect">
            <a:avLst/>
          </a:prstGeom>
          <a:solidFill>
            <a:srgbClr val="DBEAFE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Clinician workspace (Streamlit)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Patient form + clinical query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Citations + transparency panel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Disclaimer + review flags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2788920" cy="41148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Orchestration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83080"/>
            <a:ext cx="2788920" cy="3291840"/>
          </a:xfrm>
          <a:prstGeom prst="roundRect">
            <a:avLst/>
          </a:prstGeom>
          <a:solidFill>
            <a:srgbClr val="CFFAFE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LangGraph StateGraph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Shared GraphState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Deterministic node edges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Agent trace for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2788920" cy="41148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Model / RAG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788920" cy="3291840"/>
          </a:xfrm>
          <a:prstGeom prst="roundRect">
            <a:avLst/>
          </a:prstGeom>
          <a:solidFill>
            <a:srgbClr val="CCFBF1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Optional chat LLM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Extractive fallback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TF-IDF → FAISS retrieve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Tier rerank + verify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25880"/>
            <a:ext cx="2788920" cy="41148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/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83080"/>
            <a:ext cx="2788920" cy="3291840"/>
          </a:xfrm>
          <a:prstGeom prst="roundRect">
            <a:avLst/>
          </a:prstGeom>
          <a:solidFill>
            <a:srgbClr val="FEF3C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96596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Seed JSON medical KB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Chunk store + FAISS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Source registry probes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Localhost runtime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349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C81"/>
                </a:solidFill>
                <a:latin typeface="Calibri"/>
              </a:rPr>
              <a:t>Engineering principle used in this talk: never present green-cell future components as if they already ship. Yellow cells are runnable today; green cells are the production-oriented roadmap.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1 — End-to-End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What a clinician request touches from UI to grounded answer (implemented path)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11521440" cy="960120"/>
          </a:xfrm>
          <a:prstGeom prst="roundRect">
            <a:avLst/>
          </a:prstGeom>
          <a:solidFill>
            <a:srgbClr val="DBEAFE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4C81"/>
                </a:solidFill>
                <a:latin typeface="Calibri"/>
              </a:rPr>
              <a:t>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41732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Streamlit CDSS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1732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Optional FastAPI /ask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331720"/>
            <a:ext cx="11521440" cy="960120"/>
          </a:xfrm>
          <a:prstGeom prst="roundRect">
            <a:avLst/>
          </a:prstGeom>
          <a:solidFill>
            <a:srgbClr val="CFFAFE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243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4C81"/>
                </a:solidFill>
                <a:latin typeface="Calibri"/>
              </a:rPr>
              <a:t>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51460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LangGraph CDSS StateGraph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51460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GraphState + agent_trace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429000"/>
            <a:ext cx="11521440" cy="960120"/>
          </a:xfrm>
          <a:prstGeom prst="roundRect">
            <a:avLst/>
          </a:prstGeom>
          <a:solidFill>
            <a:srgbClr val="CCFBF1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2160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4C81"/>
                </a:solidFill>
                <a:latin typeface="Calibri"/>
              </a:rPr>
              <a:t>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361188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Query rewrite (opt LLM)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361188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Verification + confidence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61188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Recommendation builder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526280"/>
            <a:ext cx="11521440" cy="960120"/>
          </a:xfrm>
          <a:prstGeom prst="roundRect">
            <a:avLst/>
          </a:prstGeom>
          <a:solidFill>
            <a:srgbClr val="FEF3C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1888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4C81"/>
                </a:solidFill>
                <a:latin typeface="Calibri"/>
              </a:rPr>
              <a:t>Retrieval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470916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TF-IDF embedder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470916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FAISS IndexFlatIP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70916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Priority 1–7 rerank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623560"/>
            <a:ext cx="11521440" cy="960120"/>
          </a:xfrm>
          <a:prstGeom prst="roundRect">
            <a:avLst/>
          </a:prstGeom>
          <a:solidFill>
            <a:srgbClr val="FFE4E6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4C81"/>
                </a:solidFill>
                <a:latin typeface="Calibri"/>
              </a:rPr>
              <a:t>Knowledge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60" y="580644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seed_medical_kb.json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580644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chunks.json + faiss.index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5806440"/>
            <a:ext cx="2880360" cy="5943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source_registry.json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9601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Calibri"/>
              </a:rPr>
              <a:t>Request flow →  UI  →  LangGraph nodes  →  Retrieve+rank  →  Verify  →  Recommend  →  Transparency (citations)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2 — LangGraph Execution Graph (Actual Edges)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src/graph.py · StateGraph · entry = knowledge_update_agent · linear edges →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331720" cy="105156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Knowledge
Update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182880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39" y="1417320"/>
            <a:ext cx="2331720" cy="10515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Patient
Assessment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79" y="182880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2331720" cy="1051560"/>
          </a:xfrm>
          <a:prstGeom prst="roundRect">
            <a:avLst/>
          </a:prstGeom>
          <a:solidFill>
            <a:srgbClr val="CFF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Risk
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78240" y="182880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59" y="1417320"/>
            <a:ext cx="2331720" cy="105156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Query
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2331720" cy="105156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Evidence
Retrieval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17520" y="397764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39" y="3566160"/>
            <a:ext cx="2331720" cy="105156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Evidence
Verification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97879" y="397764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566160"/>
            <a:ext cx="2331720" cy="10515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Recommend +
Evidence Summary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78240" y="397764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59" y="3566160"/>
            <a:ext cx="2331720" cy="1051560"/>
          </a:xfrm>
          <a:prstGeom prst="roundRect">
            <a:avLst/>
          </a:prstGeom>
          <a:solidFill>
            <a:srgbClr val="86EFAC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Transparency
+ Final Answer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515600" y="2560320"/>
            <a:ext cx="0" cy="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Compiled with g.compile(). Knowledge Update is optional per invoke (run_knowledge_update flag). All other nodes always execute. Shared GraphState carries patient, hits, verification, recommendation, timings, agent_trace.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3 — Multi-Agent CDSS Workflow (Clinical Steps)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Maps course CDSS requirements onto implemented LangGraph agents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1280160"/>
            <a:ext cx="502920" cy="50292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1680" y="141732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2011680"/>
            <a:ext cx="1828800" cy="8686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Patient
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017520"/>
            <a:ext cx="18288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Form + text extract
age/BP/DM/LDL/BMI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1280160"/>
            <a:ext cx="502920" cy="50292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40" y="141732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2011680"/>
            <a:ext cx="1828800" cy="8686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Risk
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017520"/>
            <a:ext cx="18288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HTN stage, obesity,
CV band, preventive</a:t>
            </a:r>
          </a:p>
        </p:txBody>
      </p:sp>
      <p:sp>
        <p:nvSpPr>
          <p:cNvPr id="15" name="Oval 14"/>
          <p:cNvSpPr/>
          <p:nvPr/>
        </p:nvSpPr>
        <p:spPr>
          <a:xfrm>
            <a:off x="4937759" y="1280160"/>
            <a:ext cx="502920" cy="50292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599" y="141732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59" y="2011680"/>
            <a:ext cx="1828800" cy="8686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Evidence
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3017520"/>
            <a:ext cx="18288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FAISS top-k +
Priority 1–7</a:t>
            </a:r>
          </a:p>
        </p:txBody>
      </p:sp>
      <p:sp>
        <p:nvSpPr>
          <p:cNvPr id="19" name="Oval 18"/>
          <p:cNvSpPr/>
          <p:nvPr/>
        </p:nvSpPr>
        <p:spPr>
          <a:xfrm>
            <a:off x="6903719" y="1280160"/>
            <a:ext cx="502920" cy="50292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09559" y="141732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19" y="2011680"/>
            <a:ext cx="1828800" cy="8686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Evidence
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19" y="3017520"/>
            <a:ext cx="18288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Conflicts, cites,
confidence</a:t>
            </a:r>
          </a:p>
        </p:txBody>
      </p:sp>
      <p:sp>
        <p:nvSpPr>
          <p:cNvPr id="23" name="Oval 22"/>
          <p:cNvSpPr/>
          <p:nvPr/>
        </p:nvSpPr>
        <p:spPr>
          <a:xfrm>
            <a:off x="8869679" y="1280160"/>
            <a:ext cx="502920" cy="50292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75519" y="141732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3879" y="2011680"/>
            <a:ext cx="1828800" cy="8686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Recommend +
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017520"/>
            <a:ext cx="18288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Lifestyle/Rx/screen
+ source summary</a:t>
            </a:r>
          </a:p>
        </p:txBody>
      </p:sp>
      <p:sp>
        <p:nvSpPr>
          <p:cNvPr id="27" name="Oval 26"/>
          <p:cNvSpPr/>
          <p:nvPr/>
        </p:nvSpPr>
        <p:spPr>
          <a:xfrm>
            <a:off x="10835640" y="1280160"/>
            <a:ext cx="502920" cy="50292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2011680"/>
            <a:ext cx="1828800" cy="8686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Transparency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3017520"/>
            <a:ext cx="18288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Trace, sources,
human-review flag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892040"/>
            <a:ext cx="1143000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Persona continuity (Milestone 1): Dr. Lin — internal medicine resident needing source-linked evidence between patients.
System supports judgment; licensed clinician makes the final decision. Prototype ≠ FDA medical device.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4 — RAG Pipeline (Indexing + Query-Time)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Classic RAG pattern with clinical ranking controls — not generation-only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92608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Offline indexing path (scripts/build_index.py)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1051560" cy="105156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Seed KB
JSON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17320" y="2057400"/>
            <a:ext cx="0" cy="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08760" y="1691640"/>
            <a:ext cx="1051560" cy="105156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Clean +
Chunk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0320" y="2057400"/>
            <a:ext cx="0" cy="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1691640"/>
            <a:ext cx="1051560" cy="105156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TF-IDF
fit/embed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3320" y="2057400"/>
            <a:ext cx="0" cy="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94760" y="1691640"/>
            <a:ext cx="1051560" cy="1051560"/>
          </a:xfrm>
          <a:prstGeom prst="roundRect">
            <a:avLst/>
          </a:prstGeom>
          <a:solidFill>
            <a:srgbClr val="CFF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FAISS
IndexFlatIP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6320" y="2057400"/>
            <a:ext cx="0" cy="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1691640"/>
            <a:ext cx="1051560" cy="10515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Persist
index+meta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34440"/>
            <a:ext cx="5486400" cy="292608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Online query path (retrieval_agent)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91640"/>
            <a:ext cx="1005840" cy="10515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Clinical
query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15200" y="2057400"/>
            <a:ext cx="0" cy="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6640" y="1691640"/>
            <a:ext cx="1005840" cy="105156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Embed
query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12480" y="2057400"/>
            <a:ext cx="0" cy="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1691640"/>
            <a:ext cx="1005840" cy="1051560"/>
          </a:xfrm>
          <a:prstGeom prst="roundRect">
            <a:avLst/>
          </a:prstGeom>
          <a:solidFill>
            <a:srgbClr val="CFF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ANN /
IP search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09760" y="2057400"/>
            <a:ext cx="0" cy="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0" y="1691640"/>
            <a:ext cx="1005840" cy="105156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Tier
rerank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607040" y="2057400"/>
            <a:ext cx="0" cy="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98480" y="1691640"/>
            <a:ext cx="1005840" cy="105156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Context
block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108960"/>
            <a:ext cx="11430000" cy="292608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Grounded generation + 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611880"/>
            <a:ext cx="1783080" cy="1097280"/>
          </a:xfrm>
          <a:prstGeom prst="roundRect">
            <a:avLst/>
          </a:prstGeom>
          <a:solidFill>
            <a:srgbClr val="CFF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Retrieved
context [n]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194560" y="40233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31720" y="3611880"/>
            <a:ext cx="1783080" cy="109728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LLM chat
(if key)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14800" y="40233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51960" y="3611880"/>
            <a:ext cx="1783080" cy="109728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OR extractive
fallback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035040" y="40233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72200" y="3611880"/>
            <a:ext cx="1783080" cy="109728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Citation
index check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955280" y="40233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92440" y="3611880"/>
            <a:ext cx="1783080" cy="109728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Confidence +
review flag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875520" y="40233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012680" y="3611880"/>
            <a:ext cx="1783080" cy="1097280"/>
          </a:xfrm>
          <a:prstGeom prst="roundRect">
            <a:avLst/>
          </a:prstGeom>
          <a:solidFill>
            <a:srgbClr val="86EFAC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Final answer
+ sources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0292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Why RAG here: plain LLMs can invent guidelines. Retrieval-first + citation checks reduce unsupported claims. Current index: 19 docs / 20 chunks / embedder=local:tfidf (indexes/meta.json).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5 — Evidence Hierarchy (Priority 1 →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src/evidence_rank.py · hard sort by clinical priority, then quality within tier — not similarity-only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155680" cy="594360"/>
          </a:xfrm>
          <a:prstGeom prst="roundRect">
            <a:avLst/>
          </a:prstGeom>
          <a:solidFill>
            <a:srgbClr val="1D4ED8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075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P1  ·  Clinical Practice Guidelines  —  USPSTF, ADA, ACC/AHA, NCCN, NICE, WHO…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" y="1892808"/>
            <a:ext cx="10652759" cy="594360"/>
          </a:xfrm>
          <a:prstGeom prst="roundRect">
            <a:avLst/>
          </a:prstGeom>
          <a:solidFill>
            <a:srgbClr val="2563EB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" y="1965960"/>
            <a:ext cx="10378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P2  ·  Systematic Reviews / Meta-Analyses  —  Cochrane-style / SR-MA summaries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551176"/>
            <a:ext cx="10149840" cy="594360"/>
          </a:xfrm>
          <a:prstGeom prst="roundRect">
            <a:avLst/>
          </a:prstGeom>
          <a:solidFill>
            <a:srgbClr val="3B82F6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2432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P3  ·  Randomized Clinical Trials  —  RCT abstracts / trial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57300" y="3209544"/>
            <a:ext cx="9646919" cy="594360"/>
          </a:xfrm>
          <a:prstGeom prst="roundRect">
            <a:avLst/>
          </a:prstGeom>
          <a:solidFill>
            <a:srgbClr val="60A5F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0180" y="3282696"/>
            <a:ext cx="9372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P4  ·  PubMed / PubMed Central  —  Peer-reviewed literature style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3867912"/>
            <a:ext cx="9144000" cy="594360"/>
          </a:xfrm>
          <a:prstGeom prst="roundRect">
            <a:avLst/>
          </a:prstGeom>
          <a:solidFill>
            <a:srgbClr val="93C5FD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941064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P5  ·  AHRQ  —  Gov. evidence / SDM themes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60220" y="4526279"/>
            <a:ext cx="8641080" cy="594360"/>
          </a:xfrm>
          <a:prstGeom prst="roundRect">
            <a:avLst/>
          </a:prstGeom>
          <a:solidFill>
            <a:srgbClr val="BFDBFE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43100" y="4599431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P6  ·  MedlinePlus  —  Patient education (labeled)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5184648"/>
            <a:ext cx="8138159" cy="594360"/>
          </a:xfrm>
          <a:prstGeom prst="roundRect">
            <a:avLst/>
          </a:prstGeom>
          <a:solidFill>
            <a:srgbClr val="DBEAFE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5257800"/>
            <a:ext cx="7863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alibri"/>
              </a:rPr>
              <a:t>P7  ·  MedQuAD (testing only)  —  Eval dataset — not guideline substitute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6 — Retrieval &amp; Ranking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Hybrid: semantic candidates → clinical priority rerank → active-guideline preference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611880" cy="45720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Embed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611880" cy="137160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11827"/>
                </a:solidFill>
                <a:latin typeface="Calibri"/>
              </a:rPr>
              <a:t>TF-IDF vector
(same space as index)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21945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325880"/>
            <a:ext cx="3611880" cy="45720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Candidate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3611880" cy="1371600"/>
          </a:xfrm>
          <a:prstGeom prst="roundRect">
            <a:avLst/>
          </a:prstGeom>
          <a:solidFill>
            <a:srgbClr val="CFFAFE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11827"/>
                </a:solidFill>
                <a:latin typeface="Calibri"/>
              </a:rPr>
              <a:t>FAISS IP top candidate_k
(wide recall)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21945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611880" cy="45720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Annotate tiers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611880" cy="13716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11827"/>
                </a:solidFill>
                <a:latin typeface="Calibri"/>
              </a:rPr>
              <a:t>infer Priority 1–7
+ org / year /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11880"/>
            <a:ext cx="3611880" cy="45720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Rerank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114800"/>
            <a:ext cx="3611880" cy="137160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11827"/>
                </a:solidFill>
                <a:latin typeface="Calibri"/>
              </a:rPr>
              <a:t>tier ↑ then quality
penalize superseded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44805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60" y="3611880"/>
            <a:ext cx="3611880" cy="45720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Filter &amp; cut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4114800"/>
            <a:ext cx="3611880" cy="137160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11827"/>
                </a:solidFill>
                <a:latin typeface="Calibri"/>
              </a:rPr>
              <a:t>score floor + top-k
prefer non-superseded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63840" y="448056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3611880"/>
            <a:ext cx="3611880" cy="45720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6. Context pack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114800"/>
            <a:ext cx="3611880" cy="137160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11827"/>
                </a:solidFill>
                <a:latin typeface="Calibri"/>
              </a:rPr>
              <a:t>format_evidence_block
[1]…[k] for agents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7 — Component Interaction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Modules in AI HEALTH CARE/src and how they call each other at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834640"/>
            <a:ext cx="2834640" cy="109728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LangGraph
src/graph.py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194560" cy="9601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app.py
Streamlit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280160"/>
            <a:ext cx="2194560" cy="960120"/>
          </a:xfrm>
          <a:prstGeom prst="roundRect">
            <a:avLst/>
          </a:prstGeom>
          <a:solidFill>
            <a:srgbClr val="CFF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cdss.py
patient/risk/recs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280160"/>
            <a:ext cx="2194560" cy="96012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llm.py
chat / extractive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280160"/>
            <a:ext cx="2194560" cy="96012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api/main.py
FastAPI /ask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2194560" cy="9601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vectorstore.py
FAISS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663440"/>
            <a:ext cx="2194560" cy="96012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evidence_rank.py
tier rerank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663440"/>
            <a:ext cx="2194560" cy="96012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embeddings.py
TF-IDF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4663440"/>
            <a:ext cx="2194560" cy="9601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knowledge_update.py
URL probes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52160" y="2331720"/>
            <a:ext cx="0" cy="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5852160" y="4023360"/>
            <a:ext cx="0" cy="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06908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Calibri"/>
              </a:rPr>
              <a:t>invoke(question, patient_input, run_knowledge_update)  →  GraphState dict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8 — Knowledge Update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Implemented prototype loop — not full automated PDF ingestion of every society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1828800" cy="1828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Source registry
data/source_registry.json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228600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31720" y="1554480"/>
            <a:ext cx="1828800" cy="1828800"/>
          </a:xfrm>
          <a:prstGeom prst="roundRect">
            <a:avLst/>
          </a:prstGeom>
          <a:solidFill>
            <a:srgbClr val="CFFAFE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HTTP probe
status / Last-Modified / ETag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228600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1828800" cy="182880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Compare to local
seed doc versions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26480" y="228600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1828800" cy="182880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Apply supersession
rules locally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92440" y="228600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1828800" cy="182880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Rebuild FAISS
(optional / button)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058400" y="2286000"/>
            <a:ext cx="0" cy="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95560" y="1554480"/>
            <a:ext cx="1828800" cy="1828800"/>
          </a:xfrm>
          <a:prstGeom prst="roundRect">
            <a:avLst/>
          </a:prstGeom>
          <a:solidFill>
            <a:srgbClr val="86EFAC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Log report
knowledge_update_log.json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840480"/>
            <a:ext cx="5577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50208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Triggered from sidebar button or graph flag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Probes USPSTF / ADA / ACC-AHA / MedlinePlus / AHRQ / PMC URLs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Honest scope: URL freshness signals + local superseded_by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577840" cy="2194560"/>
          </a:xfrm>
          <a:prstGeom prst="roundRect">
            <a:avLst/>
          </a:prstGeom>
          <a:solidFill>
            <a:srgbClr val="FEF3C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50208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Ideal (green / not claimed done): auto-ingest new guideline PDFs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Ideal: continuous watchers + change detection + human approve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Ideal: versioned corpus with audit trail for clinical 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Figure 9 — Deployment Architecture (Today vs Target)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Yellow path = Milestone 2 demo runtime · Green path = production-oriented ideal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92608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Implemented deployment (local)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5486400" cy="420624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Developer laptop / classroom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3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Python venv +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streamlit run app.py  (UI)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uvicorn api.main:app 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indexes/ on local disk (FAISS + JSON)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Optional .env OPENAI_API_KEY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No PHI · public seed KB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34440"/>
            <a:ext cx="5486400" cy="292608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Ideal deployment (future)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5486400" cy="420624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7451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HIPAA-eligible cloud (Azure / AWS)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7743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Managed vector + hybrid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Azure OpenAI / Bedrock / Claude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832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React clinician console +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CI eval + observability (LangSmith)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3891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Guideline watchers + approval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892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11827"/>
                </a:solidFill>
                <a:latin typeface="Calibri"/>
              </a:rPr>
              <a:t>●  EHR/FHIR optional with BAA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AI Tech Stack — Implemented (Yellow) vs Ideal (Green)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Required Milestone 2 format from AI Tech Stack.docx · answer the three instructor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78992"/>
            <a:ext cx="114300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70432"/>
            <a:ext cx="502920" cy="256032"/>
          </a:xfrm>
          <a:prstGeom prst="roundRect">
            <a:avLst/>
          </a:prstGeom>
          <a:solidFill>
            <a:srgbClr val="FDE047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17043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Calibri"/>
              </a:rPr>
              <a:t>Yellow = Implemented in Milestone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170432"/>
            <a:ext cx="502920" cy="256032"/>
          </a:xfrm>
          <a:prstGeom prst="roundRect">
            <a:avLst/>
          </a:prstGeom>
          <a:solidFill>
            <a:srgbClr val="86EFA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39" y="117043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Calibri"/>
              </a:rPr>
              <a:t>Green = Ideal Future Architecture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627632"/>
          <a:ext cx="11521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Layer (back → front)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Really basic
(local / simple)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Freemium
(hosted)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Google (paid)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AWS (paid)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Microsoft (paid)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Others (paid)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Data layer &amp; vector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JSON medical KB
(local seed docs)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SQLite / Supabase
(managed clinical KB)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BigQuery
guideline warehouse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Amazon RDS +
OpenSearch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Azure SQL +
AI Search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FAISS local index
(implemented)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Model training &amp; MLOps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VS Code + local
Python scripts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Google Colab /
W&amp;B experiments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Vertex AI
pipelines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Amazon SageMaker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Azure Machine
Learning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Databricks
eval harness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Coding / IDE &amp;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Terminal scripts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VS Code, Cursor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GitHub Copilot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LangGraph + LangChain
(CrewAI / N8N ideal)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Gen AI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Ollama / local LLM
(compatible path)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OpenAI-compatible API
(OpenRouter optional)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Gemini API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Amazon Bedrock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Azure OpenAI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Anthropic Claude API
(ideal clinical LLM)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Frontend UI &amp; dev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11827"/>
                          </a:solidFill>
                          <a:latin typeface="Calibri"/>
                        </a:rPr>
                        <a:t>HTML/CSS prototypes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Streamlit
(implemented UI)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Firebase Hosting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AWS Amplify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Azure Static
Web Apps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React / Next.js +
Figma design system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Hosting /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Localhost
(Streamlit / Uvicorn)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Render / Fly.io
free tier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Cloud Run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AWS Lambda +
API Gateway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Azure App Service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HIPAA-eligible
managed Kubernetes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Embeddings &amp;
retrieval (bonus)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scikit-learn TF-IDF
+ FAISS top-k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Managed vector
(DB + hybrid search)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Vertex Matching
Engine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OpenSearch k-NN
+ re-ranker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Azure AI Search
hybrid + semantic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Cohere / Voyage
re-ranker (ideal)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Orchestration &amp;
CDSS agents (bonus)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Python modules
+ scripts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Hosted workflow
orchestrators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Step Functions
agent workflows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Azure Logic Apps
/ Durable Functions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LangGraph StateGraph
CDSS graph (impl.)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11827"/>
                          </a:solidFill>
                          <a:latin typeface="Calibri"/>
                        </a:rPr>
                        <a:t>Eval / observability
(bonus)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Local eval JSON
latency + citations</a:t>
                      </a:r>
                    </a:p>
                  </a:txBody>
                  <a:tcPr>
                    <a:solidFill>
                      <a:srgbClr val="FDE0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LangSmith free /
open telemetry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Cloud Monitoring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CloudWatch +
X-Ray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Azure Monitor
App Insights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11827"/>
                          </a:solidFill>
                          <a:latin typeface="Calibri"/>
                        </a:rPr>
                        <a:t>Continuous groundedness
+ clinician override logs</a:t>
                      </a:r>
                    </a:p>
                  </a:txBody>
                  <a:tcPr>
                    <a:solidFill>
                      <a:srgbClr val="86EFA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5760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4C81"/>
                </a:solidFill>
                <a:latin typeface="Calibri"/>
              </a:rPr>
              <a:t>Instructor Qs: (1) Implemented stack? → yellow cells + Figures 1–2.  (2) Ideal stack? → green cells + Figure 9.  (3) Why? → next slide (cost, complexity, scalability, maintainability, latency).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Why This Ideal Stack? — Engineering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Answers AI Tech Stack.docx Q3 using Chip Huyen–style decision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94760" cy="3657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94760" cy="3657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34440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Implemented choice (yellow)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188720"/>
            <a:ext cx="3794760" cy="3657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234440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Ideal direction (green)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37947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37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3794760" cy="658368"/>
          </a:xfrm>
          <a:prstGeom prst="rect">
            <a:avLst/>
          </a:prstGeom>
          <a:solidFill>
            <a:srgbClr val="FDE04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737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Local TF-IDF + optional LLM keeps demo near $0.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3794760" cy="658368"/>
          </a:xfrm>
          <a:prstGeom prst="rect">
            <a:avLst/>
          </a:prstGeom>
          <a:solidFill>
            <a:srgbClr val="86EFA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737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Paid embeddings/LLM + cloud raise quality but add recurring cost / BAAs.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77440"/>
            <a:ext cx="37947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4688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Complexity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377440"/>
            <a:ext cx="3794760" cy="658368"/>
          </a:xfrm>
          <a:prstGeom prst="rect">
            <a:avLst/>
          </a:prstGeom>
          <a:solidFill>
            <a:srgbClr val="FDE04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4688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One Python repo + Streamlit is easy to run and grade.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2377440"/>
            <a:ext cx="3794760" cy="658368"/>
          </a:xfrm>
          <a:prstGeom prst="rect">
            <a:avLst/>
          </a:prstGeom>
          <a:solidFill>
            <a:srgbClr val="86EFA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24688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React + managed search + EHR FHIR expands integration surface.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08960"/>
            <a:ext cx="37947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0040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Scalability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108960"/>
            <a:ext cx="3794760" cy="658368"/>
          </a:xfrm>
          <a:prstGeom prst="rect">
            <a:avLst/>
          </a:prstGeom>
          <a:solidFill>
            <a:srgbClr val="FDE04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20040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FAISS-on-disk fine for 19-doc prototype KB.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108960"/>
            <a:ext cx="3794760" cy="658368"/>
          </a:xfrm>
          <a:prstGeom prst="rect">
            <a:avLst/>
          </a:prstGeom>
          <a:solidFill>
            <a:srgbClr val="86EFA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20040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Managed vector + autoscaling APIs needed for multi-clinic load.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37947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9319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Maintainability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840480"/>
            <a:ext cx="3794760" cy="658368"/>
          </a:xfrm>
          <a:prstGeom prst="rect">
            <a:avLst/>
          </a:prstGeom>
          <a:solidFill>
            <a:srgbClr val="FDE04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9319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Clear LangGraph nodes + seed JSON are inspectable.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3840480"/>
            <a:ext cx="3794760" cy="658368"/>
          </a:xfrm>
          <a:prstGeom prst="rect">
            <a:avLst/>
          </a:prstGeom>
          <a:solidFill>
            <a:srgbClr val="86EFA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39319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CI eval + guideline watchers reduce drift but need ops ownership.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572000"/>
            <a:ext cx="37947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66344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Latency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572000"/>
            <a:ext cx="3794760" cy="658368"/>
          </a:xfrm>
          <a:prstGeom prst="rect">
            <a:avLst/>
          </a:prstGeom>
          <a:solidFill>
            <a:srgbClr val="FDE04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66344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Local retrieval is fast; LLM optional.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4572000"/>
            <a:ext cx="3794760" cy="658368"/>
          </a:xfrm>
          <a:prstGeom prst="rect">
            <a:avLst/>
          </a:prstGeom>
          <a:solidFill>
            <a:srgbClr val="86EFA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79" y="466344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Re-rankers/LLMs add latency; cache + async jobs mitigate.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303520"/>
            <a:ext cx="37947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394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alibri"/>
              </a:rPr>
              <a:t>Safety / trust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5303520"/>
            <a:ext cx="3794760" cy="658368"/>
          </a:xfrm>
          <a:prstGeom prst="rect">
            <a:avLst/>
          </a:prstGeom>
          <a:solidFill>
            <a:srgbClr val="FDE047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5394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Citations, confidence, review flags, loud disclaimer.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5303520"/>
            <a:ext cx="3794760" cy="658368"/>
          </a:xfrm>
          <a:prstGeom prst="rect">
            <a:avLst/>
          </a:prstGeom>
          <a:solidFill>
            <a:srgbClr val="86EFA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5394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alibri"/>
              </a:rPr>
              <a:t>Clinical validation, audit logging, red-team eval harness.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Data, Model, and 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Grounded in the running prototype — not aspirational slides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7033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703320" cy="43891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5331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74519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Public-style seed KB (JSON): guideline summaries, MedlinePlus, AHRQ, PubMed/PMC-style, MedQuAD sample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Pipeline: load → clean → chunk → TF-IDF → FAISS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19 docs / 20 chunks indexed (meta.json)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Knowledge Update URL registry + supersession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Not claimed: bulk PMC crawl, EHR/FHIR PHI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7033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3703320" cy="43891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5331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Model /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874519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LangGraph StateGraph (8 nodes)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Patient → Risk → Query → Retrieve → Verify → Recommend → Transparency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Optional OpenAI-compatible chat LLM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Offline extractive grounded fallback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Streamlit UI + optional 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7033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703320" cy="43891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5331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Key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874519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Guideline-first ranking beats pure semantic retrieval for clinical trust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Superseded docs must be penalized or answers drift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Citation precision = 1.0 on demo eval queries when answers cite [n]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Offline path is required for reliable demos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CDSS structure &gt; plain chatbot Q&amp;A for clinicians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Evaluation — Technical Proof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scripts/evaluate.py → outputs/eval_results.json · proposal metrics mapped to what we can measure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75569"/>
                </a:solidFill>
                <a:latin typeface="Calibri"/>
              </a:rPr>
              <a:t>Citation precision</a:t>
            </a:r>
          </a:p>
          <a:p>
            <a:r>
              <a:rPr sz="2800" b="1">
                <a:solidFill>
                  <a:srgbClr val="0F4C81"/>
                </a:solidFill>
                <a:latin typeface="Calibri"/>
              </a:rPr>
              <a:t>1.00</a:t>
            </a:r>
          </a:p>
          <a:p>
            <a:r>
              <a:rPr sz="1100" b="0">
                <a:solidFill>
                  <a:srgbClr val="475569"/>
                </a:solidFill>
                <a:latin typeface="Calibri"/>
              </a:rPr>
              <a:t>Valid [n] / total cites
(demo eval set)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75569"/>
                </a:solidFill>
                <a:latin typeface="Calibri"/>
              </a:rPr>
              <a:t>Chunks / query</a:t>
            </a:r>
          </a:p>
          <a:p>
            <a:r>
              <a:rPr sz="2800" b="1">
                <a:solidFill>
                  <a:srgbClr val="0F4C81"/>
                </a:solidFill>
                <a:latin typeface="Calibri"/>
              </a:rPr>
              <a:t>5</a:t>
            </a:r>
          </a:p>
          <a:p>
            <a:r>
              <a:rPr sz="1100" b="0">
                <a:solidFill>
                  <a:srgbClr val="475569"/>
                </a:solidFill>
                <a:latin typeface="Calibri"/>
              </a:rPr>
              <a:t>Top-k after
priority 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75569"/>
                </a:solidFill>
                <a:latin typeface="Calibri"/>
              </a:rPr>
              <a:t>Indexed corpus</a:t>
            </a:r>
          </a:p>
          <a:p>
            <a:r>
              <a:rPr sz="2800" b="1">
                <a:solidFill>
                  <a:srgbClr val="0F4C81"/>
                </a:solidFill>
                <a:latin typeface="Calibri"/>
              </a:rPr>
              <a:t>19 / 20</a:t>
            </a:r>
          </a:p>
          <a:p>
            <a:r>
              <a:rPr sz="1100" b="0">
                <a:solidFill>
                  <a:srgbClr val="475569"/>
                </a:solidFill>
                <a:latin typeface="Calibri"/>
              </a:rPr>
              <a:t>Documents / chunks
in FAISS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2801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371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75569"/>
                </a:solidFill>
                <a:latin typeface="Calibri"/>
              </a:rPr>
              <a:t>Retrieval path</a:t>
            </a:r>
          </a:p>
          <a:p>
            <a:r>
              <a:rPr sz="2800" b="1">
                <a:solidFill>
                  <a:srgbClr val="0F4C81"/>
                </a:solidFill>
                <a:latin typeface="Calibri"/>
              </a:rPr>
              <a:t>FAISS</a:t>
            </a:r>
          </a:p>
          <a:p>
            <a:r>
              <a:rPr sz="1100" b="0">
                <a:solidFill>
                  <a:srgbClr val="475569"/>
                </a:solidFill>
                <a:latin typeface="Calibri"/>
              </a:rPr>
              <a:t>TF-IDF · hierarchy
rerank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08960"/>
            <a:ext cx="11338560" cy="41148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RAG vs plain LLM (qualitative — matches proposal evaluation plan)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11880"/>
            <a:ext cx="3703320" cy="41148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611880"/>
            <a:ext cx="3703320" cy="41148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With RAG (implemented)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611880"/>
            <a:ext cx="3703320" cy="411480"/>
          </a:xfrm>
          <a:prstGeom prst="roundRect">
            <a:avLst/>
          </a:prstGeom>
          <a:solidFill>
            <a:srgbClr val="0F4C81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Plain LLM (no retrieval)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50791"/>
            <a:ext cx="3703320" cy="4114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Source links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050791"/>
            <a:ext cx="3703320" cy="41148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Yes — chunk IDs, orgs, URLs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050791"/>
            <a:ext cx="3703320" cy="41148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None / invented references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489704"/>
            <a:ext cx="3703320" cy="4114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Groundedness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489704"/>
            <a:ext cx="3703320" cy="41148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Constrained to retrieved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489704"/>
            <a:ext cx="3703320" cy="41148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Fluent but may hallucinate guidelines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928616"/>
            <a:ext cx="3703320" cy="4114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Audit trail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928616"/>
            <a:ext cx="3703320" cy="41148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Agent trace + timings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928616"/>
            <a:ext cx="3703320" cy="41148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No retrieval 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367528"/>
            <a:ext cx="3703320" cy="4114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Offline 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5367528"/>
            <a:ext cx="3703320" cy="411480"/>
          </a:xfrm>
          <a:prstGeom prst="roundRect">
            <a:avLst/>
          </a:prstGeom>
          <a:solidFill>
            <a:srgbClr val="FDE047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Works via extractive fallback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5367528"/>
            <a:ext cx="3703320" cy="41148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Requires API key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Challenges and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Engineering reality from building the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577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577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57784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57784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29844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Learnings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74519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Heavy embedding stacks broke installs → defaulted to offline TF-IDF.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Pure semantic search overweighted patient-education pages.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Superseded guidelines retrieve unless ranking penalizes them.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UI had to become clinician-readable without rewriting agents.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Must label indexed/cached vs true live retrieval honestly.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Medical prototypes need loud disclaimers + review flags.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Separate implemented vs ideal stack explicitly (AI engineering honesty).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Evidence hierarchy + citation checks beat fluency-only answers.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LangGraph boundaries make CDSS steps demoable and debuggable.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Local-first design improves reliability and lowers cost.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Trade-offs ARE the story: cost, latency, scale, maintainability.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Clinician support ≠ replacement — transparency builds trust.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Live Demo — Proof of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Camera ON · show running system + codebase path AI HEALTH CARE/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7589520" cy="43891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Demo script (record with camera 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7223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1. Start: python scripts\build_index.py then streamlit run app.py (or START_DEMO.bat).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2. Enter patient fields + clinical question (e.g., ASCVD statin intensity / A1C target).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3. Run CDSS — show KPIs, assessment, risk, evidence tiles (guidelines first).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4. Open verification conflicts, recommendations, citations, agent trace, confidence.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5. Show Knowledge Update / Rebuild index buttons (maintenance).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6. Point to src/graph.py, evidence_rank.py, vectorstore.py in the repo.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7. State clearly: research prototype, not a medical device; clinician decides.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6118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4C81"/>
                </a:solidFill>
                <a:latin typeface="Calibri"/>
              </a:rPr>
              <a:t>Honesty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Implemented: Streamlit, LangGraph CDSS graph, FAISS, TF-IDF, priority ranking, citations, FastAPI optional, Knowledge Update probes.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Ideal (not done): managed vector DB, neural embeddings + re-ranker, HIPAA cloud, React app, full PMC/EHR.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Folder: ...\1- Final project\AI HEALTH CARE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419088"/>
            <a:ext cx="11338560" cy="13716"/>
          </a:xfrm>
          <a:prstGeom prst="rect">
            <a:avLst/>
          </a:prstGeom>
          <a:solidFill>
            <a:srgbClr val="D0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Calibri"/>
              </a:rPr>
              <a:t>Milestone 2 · Audrey Rah · University of Houston · AI Engineering · Healthcare AI CDSS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A5E9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Better clinical decisions need evidence clinicians can verify.
This Milestone 2 system demonstrates AI engineering for that goal:
RAG + agents + ranking + transparency — implemented, measured, and demoable.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FFAFE"/>
                </a:solidFill>
                <a:latin typeface="Calibri"/>
              </a:rPr>
              <a:t>Audrey Rah  ·  University of Houston  ·  Houston, Texas, USA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2 — Healthcare AI CDSS (V2)</dc:title>
  <dc:subject/>
  <dc:creator>Audrey Rah</dc:creator>
  <cp:keywords/>
  <dc:description>Visual polish only; technical content unchanged from V1.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